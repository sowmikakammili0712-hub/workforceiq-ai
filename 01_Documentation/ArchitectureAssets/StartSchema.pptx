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56D64-C642-3CD0-309B-3AA2DA27B9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B12DA0-1974-6B97-C7E2-B85EC2F8DA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187B0B-41E3-3081-61EC-F2ECACF6D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9E05B-CB13-404F-BD51-1536C58894BE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991F36-EF04-CED4-0895-067F754B9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B20917-4872-1EA9-6B2A-891445909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06587-68ED-4FDE-8D78-98D68DA341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4636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0193B-BCB1-54A7-C4DD-DAC2C7A9D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BFBA7D-31F4-B8B9-E63C-28E7ABCFA0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870E33-311B-69EB-8CD5-78C63F841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9E05B-CB13-404F-BD51-1536C58894BE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295EED-A2B5-9AE3-C9BB-ED7D486C6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6276F4-3B87-75B9-668F-48D396153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06587-68ED-4FDE-8D78-98D68DA341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2094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9EB41-606A-9302-0C3E-C36910E0F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2AF63E-6560-14A1-E9CC-2F5FB42621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1F3E25-5CDF-D9DD-D960-7EC443E95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9E05B-CB13-404F-BD51-1536C58894BE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3F9CAE-4490-0299-207C-375711AF0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FD1491-F12B-A82A-1274-FA3BDE273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06587-68ED-4FDE-8D78-98D68DA341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0512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4D7AE-B0BA-BF2A-10DB-D075D9C62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6436AC-9E5C-59EB-BCCD-033DC5880D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60334B-0E53-2DD9-7227-30E4B87A59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BE389B-5094-D366-05B9-5EE874980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9E05B-CB13-404F-BD51-1536C58894BE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4CBC3B-BFC7-8E12-7F74-315DEA551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ECCA32-D7E6-33C1-2E90-3C6A88B8D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06587-68ED-4FDE-8D78-98D68DA341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8992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FA50C-33AF-9B2E-9FA9-71EF1C349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BE3287-7255-444C-B6AA-E1DA7B2298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5636CF-F21F-2AB7-058E-AE7CC6BBA3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01D414-1F46-EC3A-E24C-5279242A25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413BED-5B05-587A-0508-B1DA4BA0F4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154156-B36E-813B-2236-76220928B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9E05B-CB13-404F-BD51-1536C58894BE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14A5F3-6B62-B7BB-29FF-AC9EA456C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E3E170-A952-2B08-3D66-12DE37ED6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06587-68ED-4FDE-8D78-98D68DA341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1406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026CC-BC59-D178-5A8E-07A04F506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95D204-63F1-7E9A-3C98-5FF30D691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9E05B-CB13-404F-BD51-1536C58894BE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73EAF0-39EF-0CDF-97EF-CFD9D3A87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DFF954-5FD9-DC54-F64B-0DD926222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06587-68ED-4FDE-8D78-98D68DA341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8929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D34498-1ADC-EC09-CD1A-F4A0070DF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9E05B-CB13-404F-BD51-1536C58894BE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33B214-6168-1A9A-A9D2-BF04051DD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3191CF-2714-AF23-0494-BDAA7F1BE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06587-68ED-4FDE-8D78-98D68DA341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1512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BEB8B-C0D2-1BCE-8668-3993CE66C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1014BA-0DC4-7011-47F4-F6CF8A27C1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E1BDAA-0474-C5AD-2A09-C7F9667659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8B2E2F-296C-7DA7-645C-7535C9A43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9E05B-CB13-404F-BD51-1536C58894BE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0D0B7C-4BF5-F1A7-98DE-6B96B7D49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907D7F-181E-320A-F8AD-99A82B4E8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06587-68ED-4FDE-8D78-98D68DA341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050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8D2F4-5117-E7A1-0F82-2297348F6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CD9059-3E75-BF52-22B6-B8E9D95E40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CB583B-40F6-CE69-1DB2-03F15F9399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943F4D-7106-7616-1905-D54DE8E2B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9E05B-CB13-404F-BD51-1536C58894BE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B7E2C3-C25E-D261-5471-76C7D2F97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9F9250-15EE-2309-5041-2E604A262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06587-68ED-4FDE-8D78-98D68DA341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912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1328E-A5F6-1976-1F7F-A7B174029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024F3F-D355-83D3-F7A3-CBA253CB43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4647C-9BA0-3CBF-80FA-035DCB12A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9E05B-CB13-404F-BD51-1536C58894BE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78F258-DABF-2C17-B9BF-2A56A6678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96EC59-8FCB-D295-B29E-AB80EE5A5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06587-68ED-4FDE-8D78-98D68DA341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6768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BA7F9B-5D51-CDC5-ED12-D1050F58B7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DB6DE7-AC77-6B05-A07B-8819D88CED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E36171-A997-B38D-908A-909BD992A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9E05B-CB13-404F-BD51-1536C58894BE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E4FB01-53EE-7C6D-9CAD-A2BA4E179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03B8D2-A7A5-6D82-8F53-5E7EA1D1D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06587-68ED-4FDE-8D78-98D68DA341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2191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F64E4A-74F9-B13B-FB79-496999749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C20621-409E-59B6-E314-0AE4151EF7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FA7609-6810-209F-0717-0472440424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39E05B-CB13-404F-BD51-1536C58894BE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FCE9B-DD30-6E71-C92F-62128A2520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0FAB3B-C156-CCDD-A40B-29E9526C4A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506587-68ED-4FDE-8D78-98D68DA341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1846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4B4209F-DDBB-424F-A7E0-5382005DAAAC}"/>
              </a:ext>
            </a:extLst>
          </p:cNvPr>
          <p:cNvSpPr/>
          <p:nvPr/>
        </p:nvSpPr>
        <p:spPr>
          <a:xfrm>
            <a:off x="4354286" y="2373085"/>
            <a:ext cx="3483428" cy="205740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FACT_TICKETS</a:t>
            </a:r>
            <a:br>
              <a:rPr lang="en-US" sz="800" dirty="0"/>
            </a:br>
            <a:r>
              <a:rPr lang="en-US" sz="800" dirty="0"/>
              <a:t>Ticket ID</a:t>
            </a:r>
            <a:br>
              <a:rPr lang="en-US" sz="800" dirty="0"/>
            </a:br>
            <a:r>
              <a:rPr lang="en-US" sz="800" dirty="0"/>
              <a:t>Agent ID</a:t>
            </a:r>
            <a:br>
              <a:rPr lang="en-US" sz="800" dirty="0"/>
            </a:br>
            <a:r>
              <a:rPr lang="en-US" sz="800" dirty="0"/>
              <a:t>Created Date</a:t>
            </a:r>
            <a:br>
              <a:rPr lang="en-US" sz="800" dirty="0"/>
            </a:br>
            <a:r>
              <a:rPr lang="en-US" sz="800" dirty="0"/>
              <a:t>Customer Region</a:t>
            </a:r>
            <a:br>
              <a:rPr lang="en-US" sz="800" dirty="0"/>
            </a:br>
            <a:r>
              <a:rPr lang="en-US" sz="800" dirty="0"/>
              <a:t>Category</a:t>
            </a:r>
            <a:br>
              <a:rPr lang="en-US" sz="800" dirty="0"/>
            </a:br>
            <a:r>
              <a:rPr lang="en-US" sz="800" dirty="0"/>
              <a:t>Priority</a:t>
            </a:r>
            <a:br>
              <a:rPr lang="en-US" sz="800" dirty="0"/>
            </a:br>
            <a:r>
              <a:rPr lang="en-US" sz="800" dirty="0"/>
              <a:t>Status</a:t>
            </a:r>
            <a:br>
              <a:rPr lang="en-US" sz="800" dirty="0"/>
            </a:br>
            <a:r>
              <a:rPr lang="en-US" sz="800" dirty="0"/>
              <a:t>Resolution Hours</a:t>
            </a:r>
            <a:br>
              <a:rPr lang="en-US" sz="800" dirty="0"/>
            </a:br>
            <a:r>
              <a:rPr lang="en-US" sz="800" dirty="0"/>
              <a:t>SLA hours</a:t>
            </a:r>
            <a:br>
              <a:rPr lang="en-US" sz="800" dirty="0"/>
            </a:br>
            <a:r>
              <a:rPr lang="en-US" sz="800" dirty="0"/>
              <a:t>SLA met</a:t>
            </a:r>
            <a:br>
              <a:rPr lang="en-US" sz="800" dirty="0"/>
            </a:br>
            <a:r>
              <a:rPr lang="en-US" sz="800" dirty="0"/>
              <a:t>Escalated Flag</a:t>
            </a:r>
            <a:br>
              <a:rPr lang="en-US" sz="800" dirty="0"/>
            </a:br>
            <a:r>
              <a:rPr lang="en-US" sz="800" dirty="0"/>
              <a:t>Backlog age</a:t>
            </a:r>
            <a:br>
              <a:rPr lang="en-US" sz="800" dirty="0"/>
            </a:br>
            <a:r>
              <a:rPr lang="en-US" sz="800" dirty="0"/>
              <a:t>Forecast Month</a:t>
            </a:r>
            <a:br>
              <a:rPr lang="en-US" sz="800" dirty="0"/>
            </a:br>
            <a:r>
              <a:rPr lang="en-US" sz="800" dirty="0"/>
              <a:t>Forecast Tickets</a:t>
            </a:r>
            <a:endParaRPr lang="en-IN" sz="8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7926D10-E9C9-B6E2-F79F-D388E9BB4147}"/>
              </a:ext>
            </a:extLst>
          </p:cNvPr>
          <p:cNvSpPr/>
          <p:nvPr/>
        </p:nvSpPr>
        <p:spPr>
          <a:xfrm>
            <a:off x="4501242" y="119743"/>
            <a:ext cx="2993571" cy="125185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DIM_DATE</a:t>
            </a:r>
            <a:br>
              <a:rPr lang="en-US" b="1" dirty="0"/>
            </a:br>
            <a:r>
              <a:rPr lang="en-US" sz="800" b="1" dirty="0"/>
              <a:t>Date</a:t>
            </a:r>
            <a:br>
              <a:rPr lang="en-US" sz="800" b="1" dirty="0"/>
            </a:br>
            <a:r>
              <a:rPr lang="en-US" sz="800" b="1" dirty="0"/>
              <a:t>Year</a:t>
            </a:r>
            <a:br>
              <a:rPr lang="en-US" sz="800" b="1" dirty="0"/>
            </a:br>
            <a:r>
              <a:rPr lang="en-US" sz="800" b="1" dirty="0"/>
              <a:t>Quarter</a:t>
            </a:r>
            <a:br>
              <a:rPr lang="en-US" sz="800" b="1" dirty="0"/>
            </a:br>
            <a:r>
              <a:rPr lang="en-US" sz="800" b="1" dirty="0"/>
              <a:t>Month</a:t>
            </a:r>
            <a:br>
              <a:rPr lang="en-US" sz="800" b="1" dirty="0"/>
            </a:br>
            <a:r>
              <a:rPr lang="en-US" sz="800" b="1" dirty="0" err="1"/>
              <a:t>Month</a:t>
            </a:r>
            <a:r>
              <a:rPr lang="en-US" sz="800" b="1" dirty="0"/>
              <a:t> Name</a:t>
            </a:r>
            <a:endParaRPr lang="en-IN" sz="800" b="1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6893AB7-37AE-C28F-57B1-5A0952BE8C86}"/>
              </a:ext>
            </a:extLst>
          </p:cNvPr>
          <p:cNvSpPr/>
          <p:nvPr/>
        </p:nvSpPr>
        <p:spPr>
          <a:xfrm>
            <a:off x="9198429" y="2797626"/>
            <a:ext cx="2993571" cy="125185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DIM_AGENT</a:t>
            </a:r>
            <a:br>
              <a:rPr lang="en-US" sz="1000" b="1" dirty="0"/>
            </a:br>
            <a:r>
              <a:rPr lang="en-US" sz="800" b="1" dirty="0"/>
              <a:t>Experience</a:t>
            </a:r>
            <a:br>
              <a:rPr lang="en-US" sz="800" b="1" dirty="0"/>
            </a:br>
            <a:r>
              <a:rPr lang="en-US" sz="800" b="1" dirty="0" err="1"/>
              <a:t>UtilizationPercent</a:t>
            </a:r>
            <a:r>
              <a:rPr lang="en-US" sz="800" b="1" dirty="0"/>
              <a:t> </a:t>
            </a:r>
          </a:p>
          <a:p>
            <a:pPr algn="ctr"/>
            <a:r>
              <a:rPr lang="en-US" sz="800" b="1" dirty="0"/>
              <a:t>Agent ID</a:t>
            </a:r>
            <a:br>
              <a:rPr lang="en-US" sz="800" b="1" dirty="0"/>
            </a:br>
            <a:r>
              <a:rPr lang="en-US" sz="800" b="1" dirty="0"/>
              <a:t>Agent Name</a:t>
            </a:r>
            <a:br>
              <a:rPr lang="en-US" sz="800" b="1" dirty="0"/>
            </a:br>
            <a:r>
              <a:rPr lang="en-US" sz="800" b="1" dirty="0"/>
              <a:t>Team </a:t>
            </a:r>
            <a:br>
              <a:rPr lang="en-US" sz="800" b="1" dirty="0"/>
            </a:br>
            <a:r>
              <a:rPr lang="en-US" sz="800" b="1" dirty="0"/>
              <a:t>Cost per ticket</a:t>
            </a:r>
            <a:endParaRPr lang="en-IN" sz="800" b="1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B183A01-2D25-FDFF-1698-A600AA9A751C}"/>
              </a:ext>
            </a:extLst>
          </p:cNvPr>
          <p:cNvSpPr/>
          <p:nvPr/>
        </p:nvSpPr>
        <p:spPr>
          <a:xfrm>
            <a:off x="0" y="2803070"/>
            <a:ext cx="2993571" cy="125185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DIM_REGION</a:t>
            </a:r>
            <a:br>
              <a:rPr lang="en-US" sz="1000" b="1" dirty="0"/>
            </a:br>
            <a:r>
              <a:rPr lang="en-US" sz="800" dirty="0"/>
              <a:t>Region  Name</a:t>
            </a:r>
            <a:endParaRPr lang="en-IN" sz="800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D73868A-10C8-7CC8-9861-8FCFE2BD76E4}"/>
              </a:ext>
            </a:extLst>
          </p:cNvPr>
          <p:cNvSpPr/>
          <p:nvPr/>
        </p:nvSpPr>
        <p:spPr>
          <a:xfrm>
            <a:off x="4501242" y="5486400"/>
            <a:ext cx="2993571" cy="125185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DIM_QUEUE</a:t>
            </a:r>
            <a:br>
              <a:rPr lang="en-US" sz="1000" b="1" dirty="0"/>
            </a:br>
            <a:r>
              <a:rPr lang="en-US" sz="800" b="1" dirty="0"/>
              <a:t>Queue Name</a:t>
            </a:r>
            <a:endParaRPr lang="en-IN" sz="800" b="1" dirty="0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E1FE1EC5-E143-D967-E4B5-F19CA28BCA02}"/>
              </a:ext>
            </a:extLst>
          </p:cNvPr>
          <p:cNvSpPr/>
          <p:nvPr/>
        </p:nvSpPr>
        <p:spPr>
          <a:xfrm>
            <a:off x="2993570" y="3181238"/>
            <a:ext cx="1360715" cy="171562"/>
          </a:xfrm>
          <a:prstGeom prst="rightArrow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182E4C60-75C0-D737-3448-2E62C5DB5218}"/>
              </a:ext>
            </a:extLst>
          </p:cNvPr>
          <p:cNvSpPr/>
          <p:nvPr/>
        </p:nvSpPr>
        <p:spPr>
          <a:xfrm>
            <a:off x="5965371" y="1371600"/>
            <a:ext cx="130629" cy="1001485"/>
          </a:xfrm>
          <a:prstGeom prst="downArrow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Arrow: Up 18">
            <a:extLst>
              <a:ext uri="{FF2B5EF4-FFF2-40B4-BE49-F238E27FC236}">
                <a16:creationId xmlns:a16="http://schemas.microsoft.com/office/drawing/2014/main" id="{852C2332-5960-9D00-3465-3DB8D269249E}"/>
              </a:ext>
            </a:extLst>
          </p:cNvPr>
          <p:cNvSpPr/>
          <p:nvPr/>
        </p:nvSpPr>
        <p:spPr>
          <a:xfrm>
            <a:off x="5965371" y="4430486"/>
            <a:ext cx="177002" cy="1055914"/>
          </a:xfrm>
          <a:prstGeom prst="upArrow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Arrow: Left 20">
            <a:extLst>
              <a:ext uri="{FF2B5EF4-FFF2-40B4-BE49-F238E27FC236}">
                <a16:creationId xmlns:a16="http://schemas.microsoft.com/office/drawing/2014/main" id="{AA7EC10C-CB61-A75B-E225-1569550B0424}"/>
              </a:ext>
            </a:extLst>
          </p:cNvPr>
          <p:cNvSpPr/>
          <p:nvPr/>
        </p:nvSpPr>
        <p:spPr>
          <a:xfrm flipV="1">
            <a:off x="7837714" y="3181238"/>
            <a:ext cx="1360715" cy="171562"/>
          </a:xfrm>
          <a:prstGeom prst="leftArrow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E54A37B-8530-8F55-CDCD-3456FF83289F}"/>
              </a:ext>
            </a:extLst>
          </p:cNvPr>
          <p:cNvSpPr/>
          <p:nvPr/>
        </p:nvSpPr>
        <p:spPr>
          <a:xfrm>
            <a:off x="0" y="0"/>
            <a:ext cx="3526972" cy="903511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ENTERPRISE STAR SCHEMA</a:t>
            </a:r>
            <a:b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800" dirty="0">
                <a:latin typeface="Segoe UI" panose="020B0502040204020203" pitchFamily="34" charset="0"/>
                <a:cs typeface="Segoe UI" panose="020B0502040204020203" pitchFamily="34" charset="0"/>
              </a:rPr>
              <a:t>Power BI Dimensional Model</a:t>
            </a:r>
            <a:endParaRPr lang="en-IN" sz="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BAD1A5A-C7D3-3020-85AA-626DE8C987F6}"/>
              </a:ext>
            </a:extLst>
          </p:cNvPr>
          <p:cNvSpPr/>
          <p:nvPr/>
        </p:nvSpPr>
        <p:spPr>
          <a:xfrm>
            <a:off x="10123714" y="5170714"/>
            <a:ext cx="1959429" cy="1687286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LEGEND</a:t>
            </a:r>
            <a:br>
              <a:rPr lang="en-US" sz="1000" b="1" dirty="0"/>
            </a:br>
            <a:r>
              <a:rPr lang="en-US" sz="1000" b="1" dirty="0"/>
              <a:t>Fact Table</a:t>
            </a:r>
            <a:br>
              <a:rPr lang="en-US" sz="1000" b="1" dirty="0"/>
            </a:br>
            <a:r>
              <a:rPr lang="en-US" sz="1000" b="1" dirty="0"/>
              <a:t>Dimension Table</a:t>
            </a:r>
            <a:br>
              <a:rPr lang="en-US" sz="1000" b="1" dirty="0"/>
            </a:br>
            <a:r>
              <a:rPr lang="en-US" sz="1000" b="1" dirty="0"/>
              <a:t>            One-to-many Relationships</a:t>
            </a:r>
          </a:p>
          <a:p>
            <a:pPr algn="ctr"/>
            <a:endParaRPr lang="en-IN" sz="1000" b="1" dirty="0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6A0B721F-8F29-692A-50E0-DFC50B067855}"/>
              </a:ext>
            </a:extLst>
          </p:cNvPr>
          <p:cNvSpPr/>
          <p:nvPr/>
        </p:nvSpPr>
        <p:spPr>
          <a:xfrm flipV="1">
            <a:off x="10374086" y="6085113"/>
            <a:ext cx="321128" cy="206830"/>
          </a:xfrm>
          <a:prstGeom prst="rightArrow">
            <a:avLst>
              <a:gd name="adj1" fmla="val 36207"/>
              <a:gd name="adj2" fmla="val 50000"/>
            </a:avLst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C3647282-37F3-B4B3-B901-8AB8D847253A}"/>
              </a:ext>
            </a:extLst>
          </p:cNvPr>
          <p:cNvSpPr/>
          <p:nvPr/>
        </p:nvSpPr>
        <p:spPr>
          <a:xfrm>
            <a:off x="1" y="5954486"/>
            <a:ext cx="2079170" cy="90351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>
                <a:solidFill>
                  <a:schemeClr val="tx1"/>
                </a:solidFill>
              </a:rPr>
              <a:t>Version 1.0</a:t>
            </a:r>
          </a:p>
          <a:p>
            <a:r>
              <a:rPr lang="en-IN" dirty="0">
                <a:solidFill>
                  <a:schemeClr val="tx1"/>
                </a:solidFill>
              </a:rPr>
              <a:t>© </a:t>
            </a:r>
            <a:r>
              <a:rPr lang="en-IN" dirty="0" err="1">
                <a:solidFill>
                  <a:schemeClr val="tx1"/>
                </a:solidFill>
              </a:rPr>
              <a:t>WorkForceIQ</a:t>
            </a:r>
            <a:r>
              <a:rPr lang="en-IN" dirty="0">
                <a:solidFill>
                  <a:schemeClr val="tx1"/>
                </a:solidFill>
              </a:rPr>
              <a:t> AI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Enterprise Star Schema</a:t>
            </a: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66342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Segoe UI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Rohan Ro</dc:creator>
  <cp:lastModifiedBy>Rohan Ro</cp:lastModifiedBy>
  <cp:revision>1</cp:revision>
  <dcterms:created xsi:type="dcterms:W3CDTF">2026-07-15T10:49:32Z</dcterms:created>
  <dcterms:modified xsi:type="dcterms:W3CDTF">2026-07-15T10:50:20Z</dcterms:modified>
</cp:coreProperties>
</file>